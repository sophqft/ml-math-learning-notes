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、「AIエージェントにおけるツール利用最適化技術の調査と評価」について発表します。DSPyを題材に、質問に応じて計算、統計、単位変換のツールを選ぶエージェントを実装し、GEPAによる指示最適化の前後を比較しました。
[Sources]
- https://dspy.ai/diving-deeper/react/ — DSPy ReActの実行モデル
- https://dspy.ai/diving-deeper/gepa-in-depth/ — GEPAの最適化概要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として、AIエージェントはLLMだけで回答するのではなく、外部ツールを利用できます。しかし、重要なのはツールが存在することだけではなく、どのツールを、どの順番で使うかです。例えば、単位をそろえずに平均を計算すると、最終回答が誤ります。また、簡単な計算はLLMが自力で答えられるため、回答だけを見てもツール利用の良し悪しを判断できません。そこで、ツールの種類、順序、引数、回答を評価し、その改善をDSPyで自動化できるかを調べました。
[Sources]
- https://dspy.ai/diving-deeper/tools-react-and-mcp/ — DSPyのツール利用
- https://dspy.ai/diving-deeper/react/ — ReActのツール選択と反復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回使用したDSPyは、LLMアプリをPythonの部品として記述し、評価指標を使って最適化するフレームワークです。エージェント部分にはReActを使いました。ReActは、考える、ツールを呼ぶ、結果を見る、という処理を繰り返し、その履歴をtrajectoryとして返します。最適化にはGEPAを使いました。別のJudge LMが実行を採点し、文章のフィードバックを返します。GEPAはそのフィードバックを基に新しい指示文を提案し、より良い候補を選びます。ここで学習しているのはモデルの重みではなく、主にエージェントへ与える指示です。
[Sources]
- https://dspy.ai/diving-deeper/react/ — trajectory、1反復1ツール、finishの説明
- https://dspy.ai/diving-deeper/metrics-and-evaluation/ — metricのscoreとfeedback
- https://dspy.ai/diving-deeper/gepa-in-depth/ — GEPAの反復的な指示改善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利用できるツールは、数式計算、統計分析、単位変換の3つです。ReActのtrajectoryから、実際に使ったツール名、引数、結果を取り出しました。Judge LMには、質問、実行履歴、参照回答に加えて、今回の制御実験で期待するツール順序も渡しました。採点は、メンターから示されたツール選択40%、必要性20%、引数15%、タスク達成25%の重みを使用しました。さらに、総合点とは別に、期待したツール列と完全に一致した割合を測りました。最適化に使うtrainとvalidation、最後だけ使うtest、簡単な性能を守るための1ツール対照を分けました。
[Sources]
- https://dspy.ai/diving-deeper/metrics-and-evaluation/ — metricとEvaluateの役割
- https://dspy.ai/diving-deeper/gepa-in-depth/ — trainset/valsetとGEPA compile
- https://github.com/sophQFT/ml-math-learning-notes/blob/main/notes/machine-learning/dspy-agent-tool-optimization/dspy_tool_use_optimization_guide_annotated%20(1).md — メンター方針に沿った4評価項目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予備実験です。計算、統計、単位変換を1つだけ使う問題は簡単で、最適化前から正しいツールを使っていました。そのため、GEPAを回しても明確な改善は見られませんでした。一方、1.2キロメートル、800メートル、1500メートルの平均問題では、最適化前は計算ツールだけでしたが、GEPA後は単位変換の後に計算ツールを使うようになり、総合スコアは約1ポイント上がりました。ただし期待したのは単位変換の後に統計ツールを使う手順です。したがって、完全な改善ではなく、単位をそろえる行動だけが追加された部分的改善と解釈しました。
[Sources]
- ユーザー提供の実験結果 — 1ツール問題は改善なし、1.2 km問題は約+1ポイントの部分改善
- https://github.com/sophQFT/ml-math-learning-notes/blob/main/notes/machine-learning/dspy-agent-tool-optimization/dspy_gepa_tool_optimization_experiment.md — 1.2 km問題の期待手順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予備実験から、1ツール問題では改善の余地が小さいと考えました。そこで追加実験では、2回から4回のツール利用が必要な問題を作りました。代表例では、2つのキログラム値をグラムへ変換し、中央値を統計ツールで求め、最後に100グラムを計算ツールで引きます。単に正解するだけではなく、前のツール結果を次のツールへ正しく渡す必要があります。また、各問題に期待ツール順序と参照手順を付け、test問題はGEPAに見せません。複雑問題だけに強くなり、単純問題で余計なツールを使う副作用がないかも、1ツール対照で確認します。
[Sources]
- https://dspy.ai/diving-deeper/gepa-in-depth/ — valsetを分けた候補選択、compileの説明
- 本資料で新規設計した複雑問題データセット — train 8 / val 4 / test 8 / control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追加実験の結果です。未知test問題では、平均総合点が［前］から［後］へ、ツール順序完全一致率が［前］パーセントから［後］パーセントへ変化しました。代表例では、最適化前は［前のツール列］でしたが、GEPA後は［後のツール列］となり、期待する手順へ［近づきました／十分には近づきませんでした］。また、1ツール対照は［維持／変化］しており、複雑問題の改善と単純問題への副作用を分けて確認できました。改善が小さい場合は、「問題を複雑化するだけでなく、学習例、feedback、探索予算も重要」と続けます。
[Sources]
- このスライドの数値は、同梱コードが生成する baseline_test_results.csv、optimized_test_results.csv、before_after_comparison.csv から転記
- https://dspy.ai/diving-deeper/metrics-and-evaluation/ — score集計の考え方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考察です。第一に、最終回答が正しいだけでは、ツールを使ったか、正しい順序だったかは分かりません。第二に、簡単な問題では最適化前から高得点となり、天井効果で差が見えませんでした。第三に、GEPAには数値スコアだけでなく、どのツールが不足したかを示す具体的なfeedbackが重要です。一方、今回の問題は人工的で件数も少なく、Judgeのばらつきや探索予算の影響があります。また、実運用で重要なコスト、応答時間、安全性までは評価していません。
[Sources]
- https://dspy.ai/diving-deeper/metrics-and-evaluation/ — metricのscoreとfeedbackの役割
- https://dspy.ai/diving-deeper/gepa-in-depth/ — feedback、探索予算、候補選択
- ユーザー提供の予備実験結果と、本資料の追加実験設計に基づく考察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です。DSPyを使い、ReActのツール履歴を観測し、Judgeで評価し、GEPAで指示文を改善する流れを実装できました。1ツール問題は最初から性能が高く、複数ツール問題の方が差を観測しやすいことが分かりました。また、総合点だけでなく、ツール順序完全一致率を併用することで、部分的改善を区別できました。将来的には、モデルやプロンプト更新後の回帰評価と、改善候補の自動探索へ適用できる可能性があります。ただし、実際の業務データ、人手評価、コスト、安全性を含む追加検証が必要です。以上です。
[Sources]
- https://dspy.ai/diving-deeper/react/ — ReActの履歴とツール実行
- https://dspy.ai/diving-deeper/gepa-in-depth/ — GEPAによる指示最適化
- 東芝のAIエージェント開発・運用への適用は、本実験からの将来提案であり、実運用効果を実証した主張ではない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問題の数字はtrain、validation、testで分けています。同じ構造でも数値を変え、testはGEPAへ渡していません。各問題の参照回答と参照手順はJudgeだけが使い、Agentへの入力は質問だけです。
[Sources]
- 同梱の dspy_gepa_complex_experiment_copy_paste.md — 問題全文と参照手順
- https://dspy.ai/api/primitives/Example/ — dspy.Exampleとwith_inputsの考え方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Judgeだけに依存すると、代替手段へ寛容になりすぎる場合があります。そこで、制御実験として期待ツール列との機械的な位置一致をツール選択点へ組み込みました。一方で、引数や最終回答は文脈を考慮できるJudgeで評価しています。
[Sources]
- https://dspy.ai/diving-deeper/metrics-and-evaluation/ — ルールベースmetricとLLM-as-judgeの使い分け
- 同梱コード score_prediction() — 評価式の実装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INTERNSHIP  |  TOOL-USE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6492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AIエージェントにおける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ツール利用最適化技術の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調査と評価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31272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D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/ ReAct / GEPA による実装・評価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" y="53309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インターンシップ成果発表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[氏名]　[日付]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713232"/>
            <a:ext cx="3611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D9B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ReAct Agent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質問を読み、ツールを選ぶ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098280" y="1792224"/>
            <a:ext cx="658368" cy="301752"/>
          </a:xfrm>
          <a:prstGeom prst="chevron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212848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A6B7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3つのツール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  ｜  統計  ｜  単位変換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98280" y="3611880"/>
            <a:ext cx="658368" cy="301752"/>
          </a:xfrm>
          <a:prstGeom prst="chevron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4041648"/>
            <a:ext cx="3611880" cy="1298448"/>
          </a:xfrm>
          <a:prstGeom prst="rect">
            <a:avLst/>
          </a:prstGeom>
          <a:solidFill>
            <a:srgbClr val="FFF8F1"/>
          </a:solidFill>
          <a:ln w="12700">
            <a:solidFill>
              <a:srgbClr val="E98235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GEPA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score と feedback から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指示文の改善候補を探索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36992" y="5669280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 → 評価 → 最適化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× ReAct × GEPA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BACKGROUND &amp; QUESTION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背景：正しい回答だけでは、正しいツール利用とは限らない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15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AIエージェントの基本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D1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ユーザー質問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6624" y="1527048"/>
            <a:ext cx="530352" cy="274320"/>
          </a:xfrm>
          <a:prstGeom prst="chevron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481328"/>
            <a:ext cx="1965960" cy="384048"/>
          </a:xfrm>
          <a:prstGeom prst="rect">
            <a:avLst/>
          </a:prstGeom>
          <a:solidFill>
            <a:srgbClr val="EAF7F7"/>
          </a:solidFill>
          <a:ln w="12700">
            <a:solidFill>
              <a:srgbClr val="1AA6B7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C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ツール選択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9824" y="1527048"/>
            <a:ext cx="530352" cy="274320"/>
          </a:xfrm>
          <a:prstGeom prst="chevron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481328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D1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ツール実行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1527048"/>
            <a:ext cx="530352" cy="274320"/>
          </a:xfrm>
          <a:prstGeom prst="chevron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1392" y="1481328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D1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最終回答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240280"/>
            <a:ext cx="3456432" cy="1508760"/>
          </a:xfrm>
          <a:prstGeom prst="rect">
            <a:avLst/>
          </a:prstGeom>
          <a:solidFill>
            <a:srgbClr val="FFF8F8"/>
          </a:solidFill>
          <a:ln w="12700">
            <a:solidFill>
              <a:srgbClr val="C94C4C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4C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課題 1｜観測不足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最終回答だけを見ると、</a:t>
            </a:r>
            <a:endParaRPr lang="en-US" sz="1500" dirty="0"/>
          </a:p>
          <a:p>
            <a:pPr indent="0" marL="0">
              <a:buNone/>
            </a:pPr>
            <a:r>
              <a:rPr lang="en-US" sz="13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ツールを使ったか分からない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61688" y="2240280"/>
            <a:ext cx="3456432" cy="1508760"/>
          </a:xfrm>
          <a:prstGeom prst="rect">
            <a:avLst/>
          </a:prstGeom>
          <a:solidFill>
            <a:srgbClr val="FFF9F1"/>
          </a:solidFill>
          <a:ln w="12700">
            <a:solidFill>
              <a:srgbClr val="E98235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課題 2｜天井効果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簡単な問題は最適化前から正しく、</a:t>
            </a:r>
            <a:endParaRPr lang="en-US" sz="1500" dirty="0"/>
          </a:p>
          <a:p>
            <a:pPr indent="0" marL="0">
              <a:buNone/>
            </a:pPr>
            <a:r>
              <a:rPr lang="en-US" sz="13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改善差が見えにくい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01584" y="2240280"/>
            <a:ext cx="3456432" cy="1508760"/>
          </a:xfrm>
          <a:prstGeom prst="rect">
            <a:avLst/>
          </a:prstGeom>
          <a:solidFill>
            <a:srgbClr val="F5F9FD"/>
          </a:solidFill>
          <a:ln w="12700">
            <a:solidFill>
              <a:srgbClr val="1D5D9B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5D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課題 3｜手動調整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モデル更新のたびに、</a:t>
            </a:r>
            <a:endParaRPr lang="en-US" sz="1500" dirty="0"/>
          </a:p>
          <a:p>
            <a:pPr indent="0" marL="0">
              <a:buNone/>
            </a:pPr>
            <a:r>
              <a:rPr lang="en-US" sz="13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指示文の再調整が必要になる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" y="4343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研究の問い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727448"/>
            <a:ext cx="10936224" cy="749808"/>
          </a:xfrm>
          <a:prstGeom prst="rect">
            <a:avLst/>
          </a:prstGeom>
          <a:solidFill>
            <a:srgbClr val="EAF1F8"/>
          </a:solidFill>
          <a:ln w="17780">
            <a:solidFill>
              <a:srgbClr val="1D5D9B"/>
            </a:solidFill>
          </a:ln>
        </p:spPr>
        <p:txBody>
          <a:bodyPr wrap="square" lIns="1270" tIns="2540" rIns="2540" bIns="127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ツール利用を評価し、DSPyで指示文の改善を自動化できるか？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2103120" y="57241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評価対象：ツールの種類・順序・引数・最終回答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× ReAct × GEPA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METHOD 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方法：DSPyで「実行・採点・改善」をつなぐ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34440"/>
            <a:ext cx="3246120" cy="4389120"/>
          </a:xfrm>
          <a:prstGeom prst="rect">
            <a:avLst/>
          </a:prstGeom>
          <a:solidFill>
            <a:srgbClr val="F6FAFE"/>
          </a:solidFill>
          <a:ln w="12700">
            <a:solidFill>
              <a:srgbClr val="1D5D9B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</a:t>
            </a:r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LLMアプリを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「入力・出力・評価・最適化」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の部品として記述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Signature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Module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Metric / Optimizer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60520" y="1234440"/>
            <a:ext cx="3246120" cy="4389120"/>
          </a:xfrm>
          <a:prstGeom prst="rect">
            <a:avLst/>
          </a:prstGeom>
          <a:solidFill>
            <a:srgbClr val="F4FBFB"/>
          </a:solidFill>
          <a:ln w="12700">
            <a:solidFill>
              <a:srgbClr val="1AA6B7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ReAct Agent</a:t>
            </a:r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考える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↓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ツールを1つ呼ぶ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↓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結果を見る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↓</a:t>
            </a: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次の行動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履歴：trajectory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99248" y="1234440"/>
            <a:ext cx="3867912" cy="4389120"/>
          </a:xfrm>
          <a:prstGeom prst="rect">
            <a:avLst/>
          </a:prstGeom>
          <a:solidFill>
            <a:srgbClr val="FFF9F3"/>
          </a:solidFill>
          <a:ln w="12700">
            <a:solidFill>
              <a:srgbClr val="E98235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GEPA</a:t>
            </a:r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14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Agentを実行</a:t>
            </a:r>
            <a:endParaRPr lang="en-US" sz="2100" dirty="0"/>
          </a:p>
          <a:p>
            <a:pPr indent="0" marL="0">
              <a:buNone/>
            </a:pPr>
            <a:r>
              <a:rPr lang="en-US" sz="14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↓</a:t>
            </a:r>
            <a:endParaRPr lang="en-US" sz="2100" dirty="0"/>
          </a:p>
          <a:p>
            <a:pPr indent="0" marL="0">
              <a:buNone/>
            </a:pPr>
            <a:r>
              <a:rPr lang="en-US" sz="14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Judge：score + feedback</a:t>
            </a:r>
            <a:endParaRPr lang="en-US" sz="2100" dirty="0"/>
          </a:p>
          <a:p>
            <a:pPr indent="0" marL="0">
              <a:buNone/>
            </a:pPr>
            <a:r>
              <a:rPr lang="en-US" sz="14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↓</a:t>
            </a:r>
            <a:endParaRPr lang="en-US" sz="2100" dirty="0"/>
          </a:p>
          <a:p>
            <a:pPr indent="0" marL="0">
              <a:buNone/>
            </a:pPr>
            <a:r>
              <a:rPr lang="en-US" sz="14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Reflection LM：改善案</a:t>
            </a:r>
            <a:endParaRPr lang="en-US" sz="2100" dirty="0"/>
          </a:p>
          <a:p>
            <a:pPr indent="0" marL="0">
              <a:buNone/>
            </a:pPr>
            <a:r>
              <a:rPr lang="en-US" sz="14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↓</a:t>
            </a:r>
            <a:endParaRPr lang="en-US" sz="2100" dirty="0"/>
          </a:p>
          <a:p>
            <a:pPr indent="0" marL="0">
              <a:buNone/>
            </a:pPr>
            <a:r>
              <a:rPr lang="en-US" sz="14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新しい指示を評価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14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モデル重みではなく</a:t>
            </a:r>
            <a:endParaRPr lang="en-US" sz="2100" dirty="0"/>
          </a:p>
          <a:p>
            <a:pPr indent="0" marL="0">
              <a:buNone/>
            </a:pPr>
            <a:r>
              <a:rPr lang="en-US" sz="14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主に指示文を改善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895344" y="3136392"/>
            <a:ext cx="237744" cy="411480"/>
          </a:xfrm>
          <a:prstGeom prst="chevron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34072" y="3136392"/>
            <a:ext cx="237744" cy="411480"/>
          </a:xfrm>
          <a:prstGeom prst="chevron">
            <a:avLst/>
          </a:prstGeom>
          <a:solidFill>
            <a:srgbClr val="E98235"/>
          </a:solidFill>
          <a:ln w="12700">
            <a:solidFill>
              <a:srgbClr val="E9823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× ReAct × GEPA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EXPERIMENT DESIGN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実験構成：3ツール × 履歴評価 × train / val / test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15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利用可能なツール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063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D5D9B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calculate_expression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1つの数式を計算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2587752"/>
            <a:ext cx="3063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A6B7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analyze_numbers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平均・中央値などの統計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" y="3758184"/>
            <a:ext cx="3063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98235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convert_units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km→m、kg→gなど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96512" y="1115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評価の流れ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96512" y="148132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D1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質問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1527048"/>
            <a:ext cx="493776" cy="274320"/>
          </a:xfrm>
          <a:prstGeom prst="chevron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1481328"/>
            <a:ext cx="2011680" cy="384048"/>
          </a:xfrm>
          <a:prstGeom prst="rect">
            <a:avLst/>
          </a:prstGeom>
          <a:solidFill>
            <a:srgbClr val="EAF7F7"/>
          </a:solidFill>
          <a:ln w="12700">
            <a:solidFill>
              <a:srgbClr val="1AA6B7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C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ReAct 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527048"/>
            <a:ext cx="493776" cy="274320"/>
          </a:xfrm>
          <a:prstGeom prst="chevron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148132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FC0D1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trajectory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7251192" y="2148840"/>
            <a:ext cx="594360" cy="384048"/>
          </a:xfrm>
          <a:prstGeom prst="chevron">
            <a:avLst/>
          </a:prstGeom>
          <a:solidFill>
            <a:srgbClr val="E98235"/>
          </a:solidFill>
          <a:ln w="12700">
            <a:solidFill>
              <a:srgbClr val="E982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679192"/>
            <a:ext cx="5989320" cy="1371600"/>
          </a:xfrm>
          <a:prstGeom prst="rect">
            <a:avLst/>
          </a:prstGeom>
          <a:solidFill>
            <a:srgbClr val="FFF9F3"/>
          </a:solidFill>
          <a:ln w="12700">
            <a:solidFill>
              <a:srgbClr val="E98235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Judge LM + 期待ツール順序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種類・順序・引数・回答を採点し、score と feedback を返す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96512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総合点の重み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96512" y="4709160"/>
            <a:ext cx="2962656" cy="576072"/>
          </a:xfrm>
          <a:prstGeom prst="rect">
            <a:avLst/>
          </a:prstGeom>
          <a:solidFill>
            <a:srgbClr val="1D5D9B"/>
          </a:solidFill>
          <a:ln w="889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選択 40%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59168" y="4709160"/>
            <a:ext cx="1481328" cy="576072"/>
          </a:xfrm>
          <a:prstGeom prst="rect">
            <a:avLst/>
          </a:prstGeom>
          <a:solidFill>
            <a:srgbClr val="1AA6B7"/>
          </a:solidFill>
          <a:ln w="889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必要性 20%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40496" y="4709160"/>
            <a:ext cx="1110996" cy="576072"/>
          </a:xfrm>
          <a:prstGeom prst="rect">
            <a:avLst/>
          </a:prstGeom>
          <a:solidFill>
            <a:srgbClr val="2A8C82"/>
          </a:solidFill>
          <a:ln w="889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引数 15%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51492" y="4709160"/>
            <a:ext cx="1851660" cy="576072"/>
          </a:xfrm>
          <a:prstGeom prst="rect">
            <a:avLst/>
          </a:prstGeom>
          <a:solidFill>
            <a:srgbClr val="E98235"/>
          </a:solidFill>
          <a:ln w="889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達成 25%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5715000"/>
            <a:ext cx="10881360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CFD9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データ分割　train 8問 ｜ validation 4問 ｜ test 8問 ｜ 1ツール対照 3問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× ReAct × GEPA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PRELIMINARY RESULT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予備実験：1ツールは天井、2ツールで部分的な変化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25296"/>
            <a:ext cx="3364992" cy="1828800"/>
          </a:xfrm>
          <a:prstGeom prst="rect">
            <a:avLst/>
          </a:prstGeom>
          <a:solidFill>
            <a:srgbClr val="F6FAFE"/>
          </a:solidFill>
          <a:ln w="12700">
            <a:solidFill>
              <a:srgbClr val="1D5D9B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1ツール問題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 / 統計 / 単位変換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最適化前から正しいツール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GEPA後も明確な改善なし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90472" y="3255264"/>
            <a:ext cx="1645920" cy="411480"/>
          </a:xfrm>
          <a:prstGeom prst="rect">
            <a:avLst/>
          </a:prstGeom>
          <a:solidFill>
            <a:srgbClr val="EAF1F8"/>
          </a:solidFill>
          <a:ln w="12700">
            <a:solidFill>
              <a:srgbClr val="1D5D9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5D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天井効果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07408" y="1143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2ツール問題の一例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07408" y="1481328"/>
            <a:ext cx="7086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1.2 km、800 m、1500 m の平均を m で求める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07408" y="2103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期待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2011680"/>
            <a:ext cx="2331720" cy="384048"/>
          </a:xfrm>
          <a:prstGeom prst="rect">
            <a:avLst/>
          </a:prstGeom>
          <a:solidFill>
            <a:srgbClr val="FFF2E7"/>
          </a:solidFill>
          <a:ln w="12700">
            <a:solidFill>
              <a:srgbClr val="E98235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convert_units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2075688"/>
            <a:ext cx="438912" cy="256032"/>
          </a:xfrm>
          <a:prstGeom prst="chevron">
            <a:avLst/>
          </a:prstGeom>
          <a:solidFill>
            <a:srgbClr val="E98235"/>
          </a:solidFill>
          <a:ln w="12700">
            <a:solidFill>
              <a:srgbClr val="E9823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1392" y="2011680"/>
            <a:ext cx="2423160" cy="384048"/>
          </a:xfrm>
          <a:prstGeom prst="rect">
            <a:avLst/>
          </a:prstGeom>
          <a:solidFill>
            <a:srgbClr val="EAF7F7"/>
          </a:solidFill>
          <a:ln w="12700">
            <a:solidFill>
              <a:srgbClr val="1AA6B7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C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analyze_numbers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07408" y="28712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最適化前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2779776"/>
            <a:ext cx="2697480" cy="384048"/>
          </a:xfrm>
          <a:prstGeom prst="rect">
            <a:avLst/>
          </a:prstGeom>
          <a:solidFill>
            <a:srgbClr val="FFF6F6"/>
          </a:solidFill>
          <a:ln w="12700">
            <a:solidFill>
              <a:srgbClr val="C94C4C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4C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calculate_expression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36393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GEPA後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3547872"/>
            <a:ext cx="2331720" cy="384048"/>
          </a:xfrm>
          <a:prstGeom prst="rect">
            <a:avLst/>
          </a:prstGeom>
          <a:solidFill>
            <a:srgbClr val="FFF2E7"/>
          </a:solidFill>
          <a:ln w="12700">
            <a:solidFill>
              <a:srgbClr val="E98235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convert_units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75320" y="3611880"/>
            <a:ext cx="438912" cy="256032"/>
          </a:xfrm>
          <a:prstGeom prst="chevron">
            <a:avLst/>
          </a:prstGeom>
          <a:solidFill>
            <a:srgbClr val="E98235"/>
          </a:solidFill>
          <a:ln w="12700">
            <a:solidFill>
              <a:srgbClr val="E9823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3547872"/>
            <a:ext cx="2697480" cy="384048"/>
          </a:xfrm>
          <a:prstGeom prst="rect">
            <a:avLst/>
          </a:prstGeom>
          <a:solidFill>
            <a:srgbClr val="FFF6F6"/>
          </a:solidFill>
          <a:ln w="12700">
            <a:solidFill>
              <a:srgbClr val="C94C4C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4C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calculate_expression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4370832"/>
            <a:ext cx="6355080" cy="548640"/>
          </a:xfrm>
          <a:prstGeom prst="rect">
            <a:avLst/>
          </a:prstGeom>
          <a:solidFill>
            <a:srgbClr val="FFF5EA"/>
          </a:solidFill>
          <a:ln w="15240">
            <a:solidFill>
              <a:srgbClr val="E9823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総合スコア　約 +1ポイント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528523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単位変換は追加されたが、統計ツール選択は未達  →  部分的な改善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× ReAct × GEPA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NEW EXPERIMENT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追加実験：中間結果の受け渡しが必要な2〜4ツール問題へ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704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仮説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115568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複数の中間結果を次のツールへ渡す問題なら、改善余地が見えやすい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21792" y="1856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難易度の段階化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2176272"/>
            <a:ext cx="2286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5D9B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5D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1ツール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2176272"/>
            <a:ext cx="24871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A6B7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2ツール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 → calculate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05856" y="2176272"/>
            <a:ext cx="270662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2A8C82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A8C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3ツール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 → analyze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calculate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67928" y="2176272"/>
            <a:ext cx="2999232" cy="1298448"/>
          </a:xfrm>
          <a:prstGeom prst="rect">
            <a:avLst/>
          </a:prstGeom>
          <a:solidFill>
            <a:srgbClr val="FFF8F1"/>
          </a:solidFill>
          <a:ln w="12700">
            <a:solidFill>
              <a:srgbClr val="E98235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4ツール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 → convert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analyze → calculate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代表問題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4142232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2.5 kg、750 g、1.25 kg の中央値を g で求め、100 g を引く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" y="4782312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8235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convert_units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25496" y="4882896"/>
            <a:ext cx="146304" cy="228600"/>
          </a:xfrm>
          <a:prstGeom prst="chevron">
            <a:avLst/>
          </a:prstGeom>
          <a:solidFill>
            <a:srgbClr val="AFC0D1"/>
          </a:solidFill>
          <a:ln w="12700">
            <a:solidFill>
              <a:srgbClr val="AFC0D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4782312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8235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convert_units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75504" y="4882896"/>
            <a:ext cx="146304" cy="228600"/>
          </a:xfrm>
          <a:prstGeom prst="chevron">
            <a:avLst/>
          </a:prstGeom>
          <a:solidFill>
            <a:srgbClr val="AFC0D1"/>
          </a:solidFill>
          <a:ln w="12700">
            <a:solidFill>
              <a:srgbClr val="AFC0D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4782312"/>
            <a:ext cx="2331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8C82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analyze_numbers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08392" y="4882896"/>
            <a:ext cx="146304" cy="228600"/>
          </a:xfrm>
          <a:prstGeom prst="chevron">
            <a:avLst/>
          </a:prstGeom>
          <a:solidFill>
            <a:srgbClr val="AFC0D1"/>
          </a:solidFill>
          <a:ln w="12700">
            <a:solidFill>
              <a:srgbClr val="AFC0D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54696" y="4782312"/>
            <a:ext cx="3063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D9B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5D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calculate_expression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" y="5650992"/>
            <a:ext cx="10927080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CFD9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工夫：期待順序を明示 ｜ testはGEPAへ見せない ｜ 1ツール対照で副作用を確認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× ReAct × GEPA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RESULTS — EDIT THE PLACEHOLDERS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追加実験の結果：実測値を入力して比較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未知 test 問題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063240" cy="457200"/>
          </a:xfrm>
          <a:prstGeom prst="rect">
            <a:avLst/>
          </a:prstGeom>
          <a:solidFill>
            <a:srgbClr val="12355B"/>
          </a:solidFill>
          <a:ln w="8890">
            <a:solidFill>
              <a:srgbClr val="FFFFFF"/>
            </a:solidFill>
          </a:ln>
        </p:spPr>
        <p:txBody>
          <a:bodyPr wrap="square" lIns="635" tIns="1524" rIns="1524" bIns="635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指標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85032" y="1417320"/>
            <a:ext cx="1417320" cy="457200"/>
          </a:xfrm>
          <a:prstGeom prst="rect">
            <a:avLst/>
          </a:prstGeom>
          <a:solidFill>
            <a:srgbClr val="12355B"/>
          </a:solidFill>
          <a:ln w="8890">
            <a:solidFill>
              <a:srgbClr val="FFFFFF"/>
            </a:solidFill>
          </a:ln>
        </p:spPr>
        <p:txBody>
          <a:bodyPr wrap="square" lIns="635" tIns="1524" rIns="1524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最適化前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02352" y="1417320"/>
            <a:ext cx="1417320" cy="457200"/>
          </a:xfrm>
          <a:prstGeom prst="rect">
            <a:avLst/>
          </a:prstGeom>
          <a:solidFill>
            <a:srgbClr val="12355B"/>
          </a:solidFill>
          <a:ln w="8890">
            <a:solidFill>
              <a:srgbClr val="FFFFFF"/>
            </a:solidFill>
          </a:ln>
        </p:spPr>
        <p:txBody>
          <a:bodyPr wrap="square" lIns="635" tIns="1524" rIns="1524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GEPA後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19672" y="1417320"/>
            <a:ext cx="1280160" cy="457200"/>
          </a:xfrm>
          <a:prstGeom prst="rect">
            <a:avLst/>
          </a:prstGeom>
          <a:solidFill>
            <a:srgbClr val="12355B"/>
          </a:solidFill>
          <a:ln w="8890">
            <a:solidFill>
              <a:srgbClr val="FFFFFF"/>
            </a:solidFill>
          </a:ln>
        </p:spPr>
        <p:txBody>
          <a:bodyPr wrap="square" lIns="635" tIns="1524" rIns="1524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1874520"/>
            <a:ext cx="3063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平均総合点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85032" y="1874520"/>
            <a:ext cx="14173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XX.X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2352" y="1874520"/>
            <a:ext cx="14173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XX.X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19672" y="1874520"/>
            <a:ext cx="12801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+X.X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2395728"/>
            <a:ext cx="3063240" cy="521208"/>
          </a:xfrm>
          <a:prstGeom prst="rect">
            <a:avLst/>
          </a:prstGeom>
          <a:solidFill>
            <a:srgbClr val="F3F6FA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ツール順序完全一致率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85032" y="2395728"/>
            <a:ext cx="1417320" cy="521208"/>
          </a:xfrm>
          <a:prstGeom prst="rect">
            <a:avLst/>
          </a:prstGeom>
          <a:solidFill>
            <a:srgbClr val="F3F6FA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XX.X%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2395728"/>
            <a:ext cx="1417320" cy="521208"/>
          </a:xfrm>
          <a:prstGeom prst="rect">
            <a:avLst/>
          </a:prstGeom>
          <a:solidFill>
            <a:srgbClr val="F3F6FA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XX.X%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9672" y="2395728"/>
            <a:ext cx="1280160" cy="521208"/>
          </a:xfrm>
          <a:prstGeom prst="rect">
            <a:avLst/>
          </a:prstGeom>
          <a:solidFill>
            <a:srgbClr val="F3F6FA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+X.Xpt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2916936"/>
            <a:ext cx="3063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タスク達成度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85032" y="2916936"/>
            <a:ext cx="14173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XX.X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02352" y="2916936"/>
            <a:ext cx="14173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XX.X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9672" y="2916936"/>
            <a:ext cx="12801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FD9E4"/>
            </a:solidFill>
          </a:ln>
        </p:spPr>
        <p:txBody>
          <a:bodyPr wrap="square" lIns="635" tIns="1524" rIns="1524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+X.X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" y="3611880"/>
            <a:ext cx="7150608" cy="877824"/>
          </a:xfrm>
          <a:prstGeom prst="rect">
            <a:avLst/>
          </a:prstGeom>
          <a:solidFill>
            <a:srgbClr val="F6FAFE"/>
          </a:solidFill>
          <a:ln w="12700">
            <a:solidFill>
              <a:srgbClr val="1D5D9B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1ツール対照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最適化前  XX.X  →  GEPA後  XX.X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" y="4773168"/>
            <a:ext cx="7150608" cy="658368"/>
          </a:xfrm>
          <a:prstGeom prst="rect">
            <a:avLst/>
          </a:prstGeom>
          <a:solidFill>
            <a:srgbClr val="FFF6E8"/>
          </a:solidFill>
          <a:ln w="15240">
            <a:solidFill>
              <a:srgbClr val="E98235"/>
            </a:solidFill>
          </a:ln>
        </p:spPr>
        <p:txBody>
          <a:bodyPr wrap="square" lIns="1016" tIns="1524" rIns="1524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一言結論：［実際の結果に合わせて入力］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19872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代表例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19872" y="1417320"/>
            <a:ext cx="3438144" cy="4297680"/>
          </a:xfrm>
          <a:prstGeom prst="rect">
            <a:avLst/>
          </a:prstGeom>
          <a:solidFill>
            <a:srgbClr val="FFF9F3"/>
          </a:solidFill>
          <a:ln w="12700">
            <a:solidFill>
              <a:srgbClr val="E98235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before_after_comparison.csv から転記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3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質問：［入力］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3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期待：［入力］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3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前：［入力］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3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後：［入力］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3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点数：XX.X → XX.X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93024" y="593445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4C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XX.X と［入力］を本番前に削除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× ReAct × GEPA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DISCUSSION &amp; LIMITATIONS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考察：改善の有無だけでなく「どこが変わったか」を分解する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25296"/>
            <a:ext cx="2633472" cy="1508760"/>
          </a:xfrm>
          <a:prstGeom prst="rect">
            <a:avLst/>
          </a:prstGeom>
          <a:solidFill>
            <a:srgbClr val="F6FAFE"/>
          </a:solidFill>
          <a:ln w="12700">
            <a:solidFill>
              <a:srgbClr val="1D5D9B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観測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最終回答だけでは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ツール利用品質を判断できない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47288" y="1225296"/>
            <a:ext cx="2633472" cy="1508760"/>
          </a:xfrm>
          <a:prstGeom prst="rect">
            <a:avLst/>
          </a:prstGeom>
          <a:solidFill>
            <a:srgbClr val="F4FBFB"/>
          </a:solidFill>
          <a:ln w="12700">
            <a:solidFill>
              <a:srgbClr val="1AA6B7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難易度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簡単な問題は天井効果で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改善差が見えにくい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72784" y="1225296"/>
            <a:ext cx="2633472" cy="1508760"/>
          </a:xfrm>
          <a:prstGeom prst="rect">
            <a:avLst/>
          </a:prstGeom>
          <a:solidFill>
            <a:srgbClr val="F4FAF8"/>
          </a:solidFill>
          <a:ln w="12700">
            <a:solidFill>
              <a:srgbClr val="2A8C82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Feedback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scoreだけでなく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具体的な失敗理由が必要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98280" y="1225296"/>
            <a:ext cx="2450592" cy="1508760"/>
          </a:xfrm>
          <a:prstGeom prst="rect">
            <a:avLst/>
          </a:prstGeom>
          <a:solidFill>
            <a:srgbClr val="FFF9F3"/>
          </a:solidFill>
          <a:ln w="12700">
            <a:solidFill>
              <a:srgbClr val="E98235"/>
            </a:solidFill>
          </a:ln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分解評価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種類・順序・中間値を</a:t>
            </a:r>
            <a:endParaRPr lang="en-US" sz="1600" dirty="0"/>
          </a:p>
          <a:p>
            <a:pPr indent="0" marL="0">
              <a:buNone/>
            </a:pPr>
            <a:r>
              <a:rPr lang="en-US" sz="122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別々に確認する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" y="3127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94C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限界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520440"/>
            <a:ext cx="6629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—  問題数が少なく、長さ・重さ・時間の人工問題が中心
</a:t>
            </a:r>
            <a:pPr indent="0" marL="0">
              <a:buNone/>
            </a:pPr>
            <a:r>
              <a:rPr lang="en-US" sz="14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—  LLM Judgeの採点にはばらつきがある
</a:t>
            </a:r>
            <a:pPr indent="0" marL="0">
              <a:buNone/>
            </a:pPr>
            <a:r>
              <a:rPr lang="en-US" sz="14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—  GEPAの探索予算とAPIコストに制約
</a:t>
            </a:r>
            <a:pPr indent="0" marL="0">
              <a:buNone/>
            </a:pPr>
            <a:r>
              <a:rPr lang="en-US" sz="14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—  コスト・応答時間・安全性は未評価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54112" y="3355848"/>
            <a:ext cx="3794760" cy="2057400"/>
          </a:xfrm>
          <a:prstGeom prst="rect">
            <a:avLst/>
          </a:prstGeom>
          <a:solidFill>
            <a:srgbClr val="FFF8F8"/>
          </a:solidFill>
          <a:ln w="12700">
            <a:solidFill>
              <a:srgbClr val="C94C4C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4C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結果の読み方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A｜総合点＋完全一致率が上昇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B｜総合点のみ上昇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C｜一部だけ改善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D｜改善なし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E｜複雑問題は改善、対照は悪化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57607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「成功 / 失敗」の二択ではなく、変化した要素を説明する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× ReAct × GEPA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CONCLUSION &amp; APPLICABILITY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結論：評価可能なツール利用最適化ループを構築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15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481328"/>
            <a:ext cx="10744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●  ツール履歴の観測 → 評価 → GEPA最適化を一連で実装
</a:t>
            </a:r>
            <a:pPr indent="0" marL="0">
              <a:buNone/>
            </a:pPr>
            <a:r>
              <a:rPr lang="en-US" sz="15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●  1ツール問題では改善余地が小さく、複数ツールで差を観測
</a:t>
            </a:r>
            <a:pPr indent="0" marL="0">
              <a:buNone/>
            </a:pPr>
            <a:r>
              <a:rPr lang="en-US" sz="15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●  総合点とツール順序完全一致率の併用で、部分改善を識別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1792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AIエージェント開発・運用への示唆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3776472"/>
            <a:ext cx="22128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D5D9B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5D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 / 指示更新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07792" y="3922776"/>
            <a:ext cx="164592" cy="246888"/>
          </a:xfrm>
          <a:prstGeom prst="chevron">
            <a:avLst/>
          </a:prstGeom>
          <a:solidFill>
            <a:srgbClr val="AFC0D1"/>
          </a:solidFill>
          <a:ln w="12700">
            <a:solidFill>
              <a:srgbClr val="AFC0D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776472"/>
            <a:ext cx="22128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A6B7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回帰評価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94960" y="3922776"/>
            <a:ext cx="164592" cy="246888"/>
          </a:xfrm>
          <a:prstGeom prst="chevron">
            <a:avLst/>
          </a:prstGeom>
          <a:solidFill>
            <a:srgbClr val="AFC0D1"/>
          </a:solidFill>
          <a:ln w="12700">
            <a:solidFill>
              <a:srgbClr val="AFC0D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3776472"/>
            <a:ext cx="22128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8235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9823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GEPAで候補探索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82128" y="3922776"/>
            <a:ext cx="164592" cy="246888"/>
          </a:xfrm>
          <a:prstGeom prst="chevron">
            <a:avLst/>
          </a:prstGeom>
          <a:solidFill>
            <a:srgbClr val="AFC0D1"/>
          </a:solidFill>
          <a:ln w="12700">
            <a:solidFill>
              <a:srgbClr val="AFC0D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3776472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A8C82"/>
            </a:solidFill>
          </a:ln>
        </p:spPr>
        <p:txBody>
          <a:bodyPr wrap="square" lIns="381" tIns="1016" rIns="1016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人間が安全性・コスト確認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4892040"/>
            <a:ext cx="10744200" cy="713232"/>
          </a:xfrm>
          <a:prstGeom prst="rect">
            <a:avLst/>
          </a:prstGeom>
          <a:solidFill>
            <a:srgbClr val="EAF1F8"/>
          </a:solidFill>
          <a:ln w="16510">
            <a:solidFill>
              <a:srgbClr val="1D5D9B"/>
            </a:solidFill>
          </a:ln>
        </p:spPr>
        <p:txBody>
          <a:bodyPr wrap="square" lIns="1016" tIns="2286" rIns="228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適用可能性はあるが、業務データ・人手評価・運用指標での追加検証が必要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0288" y="58338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DSPy × ReAct × GEPA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Appendix：追加実験の問題例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61872"/>
            <a:ext cx="1143000" cy="475488"/>
          </a:xfrm>
          <a:prstGeom prst="rect">
            <a:avLst/>
          </a:prstGeom>
          <a:solidFill>
            <a:srgbClr val="12355B"/>
          </a:solidFill>
          <a:ln w="8890">
            <a:solidFill>
              <a:srgbClr val="FFFFFF"/>
            </a:solidFill>
          </a:ln>
        </p:spPr>
        <p:txBody>
          <a:bodyPr wrap="square" lIns="635" tIns="1524" rIns="1524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区分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64792" y="1261872"/>
            <a:ext cx="6400800" cy="475488"/>
          </a:xfrm>
          <a:prstGeom prst="rect">
            <a:avLst/>
          </a:prstGeom>
          <a:solidFill>
            <a:srgbClr val="12355B"/>
          </a:solidFill>
          <a:ln w="8890">
            <a:solidFill>
              <a:srgbClr val="FFFFFF"/>
            </a:solidFill>
          </a:ln>
        </p:spPr>
        <p:txBody>
          <a:bodyPr wrap="square" lIns="635" tIns="1524" rIns="1524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問題例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65592" y="1261872"/>
            <a:ext cx="3657600" cy="475488"/>
          </a:xfrm>
          <a:prstGeom prst="rect">
            <a:avLst/>
          </a:prstGeom>
          <a:solidFill>
            <a:srgbClr val="12355B"/>
          </a:solidFill>
          <a:ln w="8890">
            <a:solidFill>
              <a:srgbClr val="FFFFFF"/>
            </a:solidFill>
          </a:ln>
        </p:spPr>
        <p:txBody>
          <a:bodyPr wrap="square" lIns="635" tIns="1524" rIns="1524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期待ツール列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737360"/>
            <a:ext cx="11430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FD9E4"/>
            </a:solidFill>
          </a:ln>
        </p:spPr>
        <p:txBody>
          <a:bodyPr wrap="square" lIns="1016" tIns="1778" rIns="1778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5D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2ツール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764792" y="1737360"/>
            <a:ext cx="64008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FD9E4"/>
            </a:solidFill>
          </a:ln>
        </p:spPr>
        <p:txBody>
          <a:bodyPr wrap="square" lIns="1016" tIns="1778" rIns="1778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2.2 kmをmに直し、480 mを足して4で割る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65592" y="1737360"/>
            <a:ext cx="36576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FD9E4"/>
            </a:solidFill>
          </a:ln>
        </p:spPr>
        <p:txBody>
          <a:bodyPr wrap="square" lIns="1016" tIns="1778" rIns="1778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 → calculate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2816352"/>
            <a:ext cx="1143000" cy="1078992"/>
          </a:xfrm>
          <a:prstGeom prst="rect">
            <a:avLst/>
          </a:prstGeom>
          <a:solidFill>
            <a:srgbClr val="F3F6FA"/>
          </a:solidFill>
          <a:ln w="10160">
            <a:solidFill>
              <a:srgbClr val="CFD9E4"/>
            </a:solidFill>
          </a:ln>
        </p:spPr>
        <p:txBody>
          <a:bodyPr wrap="square" lIns="1016" tIns="1778" rIns="1778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5D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3ツール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764792" y="2816352"/>
            <a:ext cx="6400800" cy="1078992"/>
          </a:xfrm>
          <a:prstGeom prst="rect">
            <a:avLst/>
          </a:prstGeom>
          <a:solidFill>
            <a:srgbClr val="F3F6FA"/>
          </a:solidFill>
          <a:ln w="10160">
            <a:solidFill>
              <a:srgbClr val="CFD9E4"/>
            </a:solidFill>
          </a:ln>
        </p:spPr>
        <p:txBody>
          <a:bodyPr wrap="square" lIns="1016" tIns="1778" rIns="1778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1.5 kmと900 mの平均をmで求め、kmへ戻す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65592" y="2816352"/>
            <a:ext cx="3657600" cy="1078992"/>
          </a:xfrm>
          <a:prstGeom prst="rect">
            <a:avLst/>
          </a:prstGeom>
          <a:solidFill>
            <a:srgbClr val="F3F6FA"/>
          </a:solidFill>
          <a:ln w="10160">
            <a:solidFill>
              <a:srgbClr val="CFD9E4"/>
            </a:solidFill>
          </a:ln>
        </p:spPr>
        <p:txBody>
          <a:bodyPr wrap="square" lIns="1016" tIns="1778" rIns="1778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 → analyze → convert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" y="3895344"/>
            <a:ext cx="11430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FD9E4"/>
            </a:solidFill>
          </a:ln>
        </p:spPr>
        <p:txBody>
          <a:bodyPr wrap="square" lIns="1016" tIns="1778" rIns="1778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5D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4ツール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764792" y="3895344"/>
            <a:ext cx="64008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FD9E4"/>
            </a:solidFill>
          </a:ln>
        </p:spPr>
        <p:txBody>
          <a:bodyPr wrap="square" lIns="1016" tIns="1778" rIns="1778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2.5 kg、750 g、1.25 kgの中央値から100 gを引く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65592" y="3895344"/>
            <a:ext cx="36576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FD9E4"/>
            </a:solidFill>
          </a:ln>
        </p:spPr>
        <p:txBody>
          <a:bodyPr wrap="square" lIns="1016" tIns="1778" rIns="1778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 → convert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analyze → calculate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90472" y="5376672"/>
            <a:ext cx="914400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CFD9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データ分割　train 8 ｜ validation 4 ｜ test 8 ｜ control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60167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Agentに見せるのは question のみ。期待順序・参照手順・参照回答はJudge用。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 — Q&amp;A用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1AA6B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43891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Appendix：評価式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09960" y="210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932688"/>
            <a:ext cx="11109960" cy="0"/>
          </a:xfrm>
          <a:prstGeom prst="line">
            <a:avLst/>
          </a:prstGeom>
          <a:noFill/>
          <a:ln w="13970">
            <a:solidFill>
              <a:srgbClr val="CFD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61872"/>
            <a:ext cx="5257800" cy="1828800"/>
          </a:xfrm>
          <a:prstGeom prst="rect">
            <a:avLst/>
          </a:prstGeom>
          <a:solidFill>
            <a:srgbClr val="F6FAFE"/>
          </a:solidFill>
          <a:ln w="12700">
            <a:solidFill>
              <a:srgbClr val="1D5D9B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ツール選択点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0.5 × 期待順序との位置一致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+ 0.5 × Judgeの選択評価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81928" y="1261872"/>
            <a:ext cx="5257800" cy="1828800"/>
          </a:xfrm>
          <a:prstGeom prst="rect">
            <a:avLst/>
          </a:prstGeom>
          <a:solidFill>
            <a:srgbClr val="FFF9F3"/>
          </a:solidFill>
          <a:ln w="12700">
            <a:solidFill>
              <a:srgbClr val="E98235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総合点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0.40 × ツール選択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+ 0.20 × 必要性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+ 0.15 × 引数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+ 0.25 × タスク達成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3520440"/>
            <a:ext cx="10917936" cy="1417320"/>
          </a:xfrm>
          <a:prstGeom prst="rect">
            <a:avLst/>
          </a:prstGeom>
          <a:solidFill>
            <a:srgbClr val="F4FBFB"/>
          </a:solidFill>
          <a:ln w="12700">
            <a:solidFill>
              <a:srgbClr val="1AA6B7"/>
            </a:solidFill>
          </a:ln>
          <a:effectLst>
            <a:outerShdw sx="100000" sy="100000" kx="0" ky="0" algn="bl" rotWithShape="0" blurRad="19050" dist="6350" dir="2700000">
              <a:srgbClr val="718096">
                <a:alpha val="11000"/>
              </a:srgbClr>
            </a:outerShdw>
          </a:effectLst>
        </p:spPr>
        <p:txBody>
          <a:bodyPr wrap="square" lIns="2032" tIns="2286" rIns="2286" bIns="1651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別指標：ツール順序完全一致率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723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期待ツール列と実際のツール列が、長さも順序も完全に一致した問題の割合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LLM Judgeだけに依存せず、制御実験の期待順序も機械的に評価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0352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 — Q&amp;A用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AIエージェントにおけるツール利用最適化技術の調査と評価</dc:title>
  <dc:subject>DSPy / ReAct / GEPA によるツール利用最適化</dc:subject>
  <dc:creator>OpenAI</dc:creator>
  <cp:lastModifiedBy>OpenAI</cp:lastModifiedBy>
  <cp:revision>1</cp:revision>
  <dcterms:created xsi:type="dcterms:W3CDTF">2026-09-02T21:58:51Z</dcterms:created>
  <dcterms:modified xsi:type="dcterms:W3CDTF">2026-09-02T21:58:51Z</dcterms:modified>
</cp:coreProperties>
</file>